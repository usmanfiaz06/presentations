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>
            <a:off x="5181447" y="0"/>
            <a:ext cx="1828800" cy="6858000"/>
          </a:xfrm>
          <a:prstGeom prst="chevron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86400"/>
            <a:ext cx="1371600" cy="1371600"/>
          </a:xfrm>
          <a:prstGeom prst="rtTriangl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000" b="1">
                <a:solidFill>
                  <a:srgbClr val="1A365D"/>
                </a:solidFill>
              </a:defRPr>
            </a:pPr>
            <a:r>
              <a:t>SERA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3182CE"/>
                </a:solidFill>
              </a:defRPr>
            </a:pPr>
            <a:r>
              <a:t>هيئة تنظيم الكهرباء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1A365D"/>
                </a:solidFill>
              </a:defRPr>
            </a:pPr>
            <a:r>
              <a:t>العرض الفني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400" b="1">
                <a:solidFill>
                  <a:srgbClr val="1A365D"/>
                </a:solidFill>
                <a:latin typeface="Arial"/>
              </a:defRPr>
            </a:pPr>
            <a:r>
              <a:t>المحتوى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10058400" cy="36576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A365D"/>
                </a:solidFill>
                <a:latin typeface="Arial"/>
              </a:defRPr>
            </a:pPr>
            <a:r>
              <a:t>نظرة عامة على البرنامج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182CE"/>
                </a:solidFill>
              </a:defRPr>
            </a:pPr>
            <a: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60320"/>
            <a:ext cx="10058400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A365D"/>
                </a:solidFill>
                <a:latin typeface="Arial"/>
              </a:defRPr>
            </a:pPr>
            <a:r>
              <a:t>فعاليات الربع الأول (Q1)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182CE"/>
                </a:solidFill>
              </a:defRPr>
            </a:pPr>
            <a: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200400"/>
            <a:ext cx="10058400" cy="36576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A365D"/>
                </a:solidFill>
                <a:latin typeface="Arial"/>
              </a:defRPr>
            </a:pPr>
            <a:r>
              <a:t>فعاليات الربع الثاني (Q2)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432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182CE"/>
                </a:solidFill>
              </a:defRPr>
            </a:pPr>
            <a: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40480"/>
            <a:ext cx="10058400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A365D"/>
                </a:solidFill>
                <a:latin typeface="Arial"/>
              </a:defRPr>
            </a:pPr>
            <a:r>
              <a:t>فعاليات الربع الثالث (Q3)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832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182CE"/>
                </a:solidFill>
              </a:defRPr>
            </a:pPr>
            <a:r>
              <a:t>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480560"/>
            <a:ext cx="10058400" cy="36576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A365D"/>
                </a:solidFill>
                <a:latin typeface="Arial"/>
              </a:defRPr>
            </a:pPr>
            <a:r>
              <a:t>فعاليات الربع الرابع (Q4)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182CE"/>
                </a:solidFill>
              </a:defRPr>
            </a:pPr>
            <a:r>
              <a:t>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120640"/>
            <a:ext cx="10058400" cy="36576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A365D"/>
                </a:solidFill>
                <a:latin typeface="Arial"/>
              </a:defRPr>
            </a:pPr>
            <a:r>
              <a:t>الفعاليات الرياضية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634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182CE"/>
                </a:solidFill>
              </a:defRPr>
            </a:pPr>
            <a:r>
              <a:t>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760720"/>
            <a:ext cx="10058400" cy="36576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A365D"/>
                </a:solidFill>
                <a:latin typeface="Arial"/>
              </a:defRPr>
            </a:pPr>
            <a:r>
              <a:t>ملخص الميزانية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182CE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نظرة عامة على البرنامج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0040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إجمالي الفعاليات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44 فعالية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20040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فعاليات 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 فعاليات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20040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فعاليات 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 فعاليات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60320"/>
            <a:ext cx="320040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فعاليات 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 فعاليات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560320"/>
            <a:ext cx="320040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فعاليات 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200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16 فعالية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2560320"/>
            <a:ext cx="320040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الفعاليات الرياضية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200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 فعاليات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657600"/>
            <a:ext cx="10515600" cy="6400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73968" y="3657600"/>
            <a:ext cx="73152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74904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الموقع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77640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جميع الفعاليات في مدينة الرياض - المملكة العربية السعودية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89120"/>
            <a:ext cx="10515600" cy="6400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73968" y="4389120"/>
            <a:ext cx="73152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عمولة الوكالة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09160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15% على جميع الفعاليات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فئات الفعاليات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1371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8D391"/>
                </a:solidFill>
              </a:defRPr>
            </a:pPr>
            <a:r>
              <a:t>المؤتمرات والاحتفالات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الاجتماع السنوي، احتفالات الأعياد، اليوم الوطني، حفل نهاية العام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383280" cy="1371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8D391"/>
                </a:solidFill>
              </a:defRPr>
            </a:pPr>
            <a:r>
              <a:t>الاحتفالات الوطنية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يوم التأسيس، يوم العلم السعودي، اليوم الوطني (96)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383280" cy="1371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8D391"/>
                </a:solidFill>
              </a:defRPr>
            </a:pPr>
            <a:r>
              <a:t>التوعية الصحية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التبرع بالدم، مكافحة التدخين، الصحة النفسية، السكري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3383280" cy="1371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8D391"/>
                </a:solidFill>
              </a:defRPr>
            </a:pPr>
            <a:r>
              <a:t>التطوير المهني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83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يوم الإبداع والابتكار، برنامج تزوّد، يوم الجودة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926080"/>
            <a:ext cx="3383280" cy="1371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017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8D391"/>
                </a:solidFill>
              </a:defRPr>
            </a:pPr>
            <a:r>
              <a:t>المسؤولية الاجتماعية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383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حملة إحسان، كسوة فرح، يوم التطوع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926080"/>
            <a:ext cx="3383280" cy="1371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3017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8D391"/>
                </a:solidFill>
              </a:defRPr>
            </a:pPr>
            <a:r>
              <a:t>الفعاليات العائلية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383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صيف سيرا، شتوية سيرا، يوم الطفل العالمي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182CE"/>
                </a:solidFill>
              </a:defRPr>
            </a:pPr>
            <a:r>
              <a:t>القسم الأول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1A365D"/>
                </a:solidFill>
              </a:defRPr>
            </a:pPr>
            <a:r>
              <a:t>فعاليات الربع الأول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18096"/>
                </a:solidFill>
              </a:defRPr>
            </a:pPr>
            <a:r>
              <a:t>9 فعاليات | يناير - مارس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1. الاجتماع السنوي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التاريخ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 فبراير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الحضور المتوقع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300 شخص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المستوى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كبير (Major)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6888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73968" y="246888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56032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المكان المقترح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7889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قاعة فندق 5 نجوم (ريتز كارلتون / فور سيزونز)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9184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73968" y="329184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8328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المسرح والديكور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118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مسرح 8م×5م، خلفية تحمل العلامة التجارية، منصة مع شعار SERA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73968" y="411480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0624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المتطلبات السمعية والبصرية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348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شاشة LED P2.5 (5م×3م)، نظام صوت Line-array، 6 ميكروفونات لاسلكية، بث مباشر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73968" y="493776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2920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الخدمات الرئيسية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ترجمة فورية عربي/إنجليزي، مقدم برامج محترف، نظام تسجيل QR، تصوير (2)، فيديو (2)، مطبوعات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الأول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515600" cy="2103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2. يوم التأسيس - 22 فبراير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مقر SERA - داخلي | الحضور: 300 شخص | الفئة: احتفال وطني</a:t>
            </a:r>
            <a:br/>
            <a:r>
              <a:t>الديكور: عروض تراثية، ثيم يوم التأسيس الوطني</a:t>
            </a:r>
            <a:br/>
            <a:r>
              <a:t>الخدمات: عروض تراثية، هدايا تذكارية، تغطية مباشرة على وسائل التواصل الاجتماعي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515600" cy="21031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3. يوم تقدير الموظف - 2 مارس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فندق 5 نجوم - حفل عشاء | الحضور: 300 شخص | الفئة: حفل تكريم</a:t>
            </a:r>
            <a:br/>
            <a:r>
              <a:t>الديكور: مسرح للحفل، ديكور فاخر، إضاءة علوية، منصات الجوائز</a:t>
            </a:r>
            <a:br/>
            <a:r>
              <a:t>الخدمات: 12 كأس كريستال، فرقة موسيقية حية (2.5 ساعة)، صناديق هدايا، مقدم برامج محترف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الأول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515600" cy="2103120"/>
          </a:xfrm>
          <a:prstGeom prst="roundRect">
            <a:avLst/>
          </a:prstGeom>
          <a:solidFill>
            <a:srgbClr val="B83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4. اليوم العالمي للمرأة - 8 مارس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مكان أنيق أو قسم السيدات في فندق | الحضور: 150 شخص</a:t>
            </a:r>
            <a:br/>
            <a:r>
              <a:t>الديكور: ديكور أنثوي أنيق، تنسيقات زهور فاخرة</a:t>
            </a:r>
            <a:br/>
            <a:r>
              <a:t>الخدمات: متحدثة رئيسية + جلسة نقاشية (3 متحدثات)، ركن تصوير، حقائب هدايا، مصورة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515600" cy="21031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5. يوم العلم السعودي - 11 مارس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مقر SERA - البهو والمنطقة الخارجية | الحضور: 300 شخص</a:t>
            </a:r>
            <a:br/>
            <a:r>
              <a:t>الديكور: علم سعودي كبير (5م+)، ثيم أخضر وأبيض وطني</a:t>
            </a:r>
            <a:br/>
            <a:r>
              <a:t>الخدمات: مراسم رفع العلم، هدايا تذكارية، تغطية مباشرة على وسائل التواصل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الأول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515600" cy="2103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6. إفطار رمضان - منتصف مارس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خيمة رمضانية في فندق 5 نجوم | الحضور: 300 شخص</a:t>
            </a:r>
            <a:br/>
            <a:r>
              <a:t>الديكور: ديكور رمضاني تقليدي: فوانيس، أهلّة، مجلس VIP</a:t>
            </a:r>
            <a:br/>
            <a:r>
              <a:t>الخدمات: بوفيه إفطار فاخر، عازف عود، صناديق هدايا رمضانية، ترتيب مصلى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515600" cy="2103120"/>
          </a:xfrm>
          <a:prstGeom prst="roundRect">
            <a:avLst/>
          </a:prstGeom>
          <a:solidFill>
            <a:srgbClr val="B83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7. يوم الأم - 21 مارس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قسم خاص في مطعم أنيق | الحضور: 130 شخص</a:t>
            </a:r>
            <a:br/>
            <a:r>
              <a:t>الديكور: ثيم الزهور، منطقة تصوير</a:t>
            </a:r>
            <a:br/>
            <a:r>
              <a:t>الخدمات: هدايا زهور، هدايا خاصة للأمهات، ترفيه، تصوير فوتوغرافي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الأول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515600" cy="21031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8. المبادرة الخضراء السعودية - 27 مارس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مقر SERA - منطقة المعارض | الحضور: 250 شخص</a:t>
            </a:r>
            <a:br/>
            <a:r>
              <a:t>الديكور: أكشاك بثيم الاستدامة الخضراء، عروض بيئية</a:t>
            </a:r>
            <a:br/>
            <a:r>
              <a:t>الخدمات: خبير بيئي، معارض خضراء، هدايا صديقة للبيئة، عروض استدامة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515600" cy="2103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9. حملة إحسان الخيرية - مارس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مقر SERA - منطقة البهو | الحضور: 200 شخص</a:t>
            </a:r>
            <a:br/>
            <a:r>
              <a:t>الديكور: عروض منصة إحسان، محطات التبرع</a:t>
            </a:r>
            <a:br/>
            <a:r>
              <a:t>الخدمات: كشك توعية بالحملة، محطات تبرع QR، عرض قصص التأثير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182CE"/>
                </a:solidFill>
              </a:defRPr>
            </a:pPr>
            <a:r>
              <a:t>القسم الثاني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1A365D"/>
                </a:solidFill>
              </a:defRPr>
            </a:pPr>
            <a:r>
              <a:t>فعاليات الربع الثاني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18096"/>
                </a:solidFill>
              </a:defRPr>
            </a:pPr>
            <a:r>
              <a:t>8 فعاليات | أبريل - يونيو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10. احتفال عيد الفطر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التاريخ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أوائل أبريل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الحضور المتوقع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300 شخص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المستوى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كبير (Major)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6888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73968" y="246888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56032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المكان المقترح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7889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القاعة الكبرى في فندق 5 نجوم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9184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73968" y="329184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8328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المسرح والديكور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118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ديكور عيد احتفالي ذهبي وأبيض، مسرح كبير، قوس مدخل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73968" y="411480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0624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المتطلبات السمعية والبصرية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348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إنتاج كامل: شاشة LED، صوت حفلات، تصميم إضاءة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73968" y="493776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2920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الخدمات الرئيسية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فرقة عرضة + موسيقى حية، هدايا العيد، ركن للأطفال (اختياري)، مقدم برامج محترف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الثاني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515600" cy="2103120"/>
          </a:xfrm>
          <a:prstGeom prst="round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11. يوم الإبداع والابتكار - 21 أبريل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مركز مؤتمرات | الحضور: 200 شخص</a:t>
            </a:r>
            <a:br/>
            <a:r>
              <a:t>الديكور: مسرح رئيسي + 10 أكشاك ابتكار للأقسام</a:t>
            </a:r>
            <a:br/>
            <a:r>
              <a:t>الخدمات: متحدث رئيسي، مسابقة ابتكار، 7 جوائز، تصويت تفاعلي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515600" cy="2103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12. اليوم العالمي للشاي - 21 مايو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مقر SERA - المناطق المشتركة | الحضور: 250 شخص</a:t>
            </a:r>
            <a:br/>
            <a:r>
              <a:t>الديكور: ديكور بثيم الشاي، 3 محطات خدمة</a:t>
            </a:r>
            <a:br/>
            <a:r>
              <a:t>الخدمات: محطات شاي عربي/إنجليزي/آسيوي، مرافقات ذواقة، عروض ثقافة الشاي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الثاني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13. كسوة فرح - مايو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مقر SERA | الحضور: 200</a:t>
            </a:r>
            <a:br/>
            <a:r>
              <a:t>نقاط جمع، تنسيق المتطوعين، لوجستيات الفرز والتوزيع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14. مكافحة التدخين - 31 مايو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مقر SERA | الحضور: 200</a:t>
            </a:r>
            <a:br/>
            <a:r>
              <a:t>متحدث صحي، محطة فحص CO، مواد توعوية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15. يوم التبرع بالدم - 14 يونيو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مقر SERA | الحضور: 120</a:t>
            </a:r>
            <a:br/>
            <a:r>
              <a:t>شراكة الهلال الأحمر، هدايا وشهادات للمتبرعين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83464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16. يوم الأب - 15 يونيو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291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مطعم / قاعة | الحضور: 160</a:t>
            </a:r>
            <a:br/>
            <a:r>
              <a:t>هدايا للآباء، أنشطة بناء فريق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173968" y="411480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17. احتفال عيد الأضحى - منتصف يونيو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القاعة الكبرى في فندق 5 نجوم | 300 شخص | عرضة + موسيقى حية، وليمة، هدايا العيد، مقدم برامج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182CE"/>
                </a:solidFill>
              </a:defRPr>
            </a:pPr>
            <a:r>
              <a:t>القسم الثالث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1A365D"/>
                </a:solidFill>
              </a:defRPr>
            </a:pPr>
            <a:r>
              <a:t>فعاليات الربع الثالث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18096"/>
                </a:solidFill>
              </a:defRPr>
            </a:pPr>
            <a:r>
              <a:t>8 فعاليات | يوليو - سبتمبر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18. صيف سيرا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التاريخ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 يوليو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الحضور المتوقع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500 شخص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المستوى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كبير (Major)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6888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73968" y="246888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56032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المكان المقترح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7889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مكان ترفيهي - مساءً فقط (حرارة 45 درجة مئوية)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9184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73968" y="329184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8328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المسرح والديكور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118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مناطق متعددة: مسرح رئيسي، منطقة أطفال، منطقة طعام، ألعاب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73968" y="411480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0624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المتطلبات السمعية والبصرية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348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صوت وإضاءة خارجية بمستوى حفلات موسيقية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73968" y="493776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2920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الخدمات الرئيسية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ترفيه رئيسي، منطقة أطفال، 10 أكشاك ألعاب، مهرجان طعام، سحب، هدايا عائلية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الثالث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19. شتوية سيرا - 19 أغسطس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مكان داخلي مكيف | الحضور: 300</a:t>
            </a:r>
            <a:br/>
            <a:r>
              <a:t>ثيم أرض العجائب الشتوية، مؤثرات ثلجية، برنامج ترفيهي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20. الإسعافات الأولية - 13 سبتمبر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مقر SERA | الحضور: 200</a:t>
            </a:r>
            <a:br/>
            <a:r>
              <a:t>ورشة CPR، حقائب إسعافات، خبير مسعف، شهادات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21. تزوّد - سبتمبر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مركز تدريب | الحضور: 200</a:t>
            </a:r>
            <a:br/>
            <a:r>
              <a:t>مدربين خبراء (جلستين)، مواد تدريبية، شهادات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83464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22. الزهايمر - 21 سبتمبر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291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مقر SERA | الحضور: 200</a:t>
            </a:r>
            <a:br/>
            <a:r>
              <a:t>متحدث رعاية صحية، شرائط بنفسجية، عروض توعوية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الثالث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515600" cy="1371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23. وش دورنا - سبتمبر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مقر SERA - قاعة اجتماعات | الحضور: 200 شخص</a:t>
            </a:r>
            <a:br/>
            <a:r>
              <a:t>الخدمات: ميسر محترف، تمارين تفاعلية، أدلة الأدوار، أنشطة فريق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10515600" cy="137160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24. اليوم الوطني السعودي (96) - 23 سبتمبر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مكان فاخر مع خيار خارجي | الحضور: 300 شخص</a:t>
            </a:r>
            <a:br/>
            <a:r>
              <a:t>الديكور: ديكور وطني أخضر فاخر، أعلام، رموز وطنية</a:t>
            </a:r>
            <a:br/>
            <a:r>
              <a:t>الخدمات: فرقة عرضة، عروض ثقافية، هدايا وطنية، إضاءة خضراء. يجب الحجز قبل 3-4 أشهر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515600" cy="1371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25. أسبوع البيئة - 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مقر SERA - منطقة معارض (5 أيام) | الحضور: 250 شخص</a:t>
            </a:r>
            <a:br/>
            <a:r>
              <a:t>الخدمات: برنامج 5 أيام، متحدثون خبراء، زراعة أشجار، ورش بيئية، أنشطة خضراء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182CE"/>
                </a:solidFill>
              </a:defRPr>
            </a:pPr>
            <a:r>
              <a:t>القسم الرابع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1A365D"/>
                </a:solidFill>
              </a:defRPr>
            </a:pPr>
            <a:r>
              <a:t>فعاليات الربع الرابع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18096"/>
                </a:solidFill>
              </a:defRPr>
            </a:pPr>
            <a:r>
              <a:t>16 فعالية | أكتوبر - ديسمبر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الرابع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515600" cy="1371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26. اليوم العالمي للقهوة - 1 أكتوبر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مقر SERA - المناطق المشتركة | الحضور: 250 شخص</a:t>
            </a:r>
            <a:br/>
            <a:r>
              <a:t>الخدمات: باريستا محترف، مراسم الدلة العربية، عروض ثقافة القهوة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10515600" cy="1371600"/>
          </a:xfrm>
          <a:prstGeom prst="roundRect">
            <a:avLst/>
          </a:prstGeom>
          <a:solidFill>
            <a:srgbClr val="B83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27. التوعية بسرطان الثدي - أكتوبر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مقر SERA - منطقة الصحة | الحضور: 200 شخص</a:t>
            </a:r>
            <a:br/>
            <a:r>
              <a:t>الخدمات: خبير رعاية صحية، معلومات فحص، عناصر توعية وردية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515600" cy="1371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28. معرض الأمن السيبراني - أكتوبر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المكان: مقر SERA / مركز مؤتمرات | الحضور: 250 شخص</a:t>
            </a:r>
            <a:br/>
            <a:r>
              <a:t>الخدمات: 6 عروض تفاعلية، 2 متحدثين خبراء، محاكاة تصيد، هدايا ترويجية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الرابع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29. الصحة النفسية - 10 أكتوبر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مقر SERA | الحضور: 200</a:t>
            </a:r>
            <a:br/>
            <a:r>
              <a:t>متحدث نفسي، ورشة إدارة الضغط، منطقة استرخاء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30. يوم الادخار - 31 أكتوبر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مقر SERA | الحضور: 200</a:t>
            </a:r>
            <a:br/>
            <a:r>
              <a:t>خبير مالي، أدلة ادخار، مخططات ميزانية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31. يوم الجودة - 10 نوفمبر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فندق أعمال | الحضور: 180</a:t>
            </a:r>
            <a:br/>
            <a:r>
              <a:t>7 جوائز جودة، عروض أفضل الممارسات، متحدث خبير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83464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32. التطعيم ضد الإنفلونزا - نوفمبر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291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مقر SERA | الحضور: 250</a:t>
            </a:r>
            <a:br/>
            <a:r>
              <a:t>طاقم طبي، لوجستيات التطعيم، هدايا للمشاركين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الرابع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33. يوم السكري - 14 نوفمبر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مقر SERA | الحضور: 200</a:t>
            </a:r>
            <a:br/>
            <a:r>
              <a:t>أخصائي غدد صماء، فحص سكر الدم، عناصر توعية زرقاء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34. يوم الرجل - 19 نوفمبر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قاعة فعاليات | الحضور: 200</a:t>
            </a:r>
            <a:br/>
            <a:r>
              <a:t>مسابقات فريق، هدايا تقدير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35. يوم الطفل - 20 نوفمبر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مكان ترفيهي عائلي | الحضور: 200</a:t>
            </a:r>
            <a:br/>
            <a:r>
              <a:t>منشطين أطفال محترفين، محطات ألعاب، هدايا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83464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36. يوم التطوع - 5 ديسمبر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291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موقع مجتمعي | الحضور: 80</a:t>
            </a:r>
            <a:br/>
            <a:r>
              <a:t>حافلتين نقل، قمصان متطوعين، صناديق غداء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فعاليات الربع الرابع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37. مكافحة الفساد - 9 ديسمبر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مقر SERA | الحضور: 200</a:t>
            </a:r>
            <a:br/>
            <a:r>
              <a:t>متحدث أخلاقيات/نزاهة، توقيع تعهدات، كتيبات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38. أنشطة التحول -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مقر SERA | الحضور: 200</a:t>
            </a:r>
            <a:br/>
            <a:r>
              <a:t>جلسات خبراء، ورش تحول، أنشطة تفكير تصميمي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39. المكتب المثالي - 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جميع مكاتب SERA | الحضور: 200</a:t>
            </a:r>
            <a:br/>
            <a:r>
              <a:t>برنامج تقييم، لجنة تحكيم، حفل جوائز، كؤوس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834640"/>
            <a:ext cx="5120640" cy="12801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926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8D391"/>
                </a:solidFill>
              </a:defRPr>
            </a:pPr>
            <a:r>
              <a:t>40. يوم اللغة العربية - 18 ديسمبر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291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المكان: مكان ثقافي | الحضور: 200</a:t>
            </a:r>
            <a:br/>
            <a:r>
              <a:t>شاعر ضيف، ورشة خط عربي، أمسية شعرية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41. حفل نهاية العام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التاريخ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أواخر ديسمبر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الحضور المتوقع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300 شخص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2004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المستوى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كبير (Major)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6888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73968" y="246888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56032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المكان المقترح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7889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فندق 5 نجوم - حفل فاخر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9184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73968" y="329184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8328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المسرح والديكور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118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مسرح فاخر، تصميم إضاءة LED، طاولات فاخرة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73968" y="411480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0624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المتطلبات السمعية والبصرية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348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حفل كامل: شاشة LED، صوت حفلات موسيقية، إضاءة مصممة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1051560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73968" y="493776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2920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الخدمات الرئيسية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فرقة موسيقية فاخرة + عروض، 15 جائزة سنوية، فيديو مراجعة العام، هدايا فاخرة، مقدم برامج. يجب الحجز قبل 3 أشهر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182CE"/>
                </a:solidFill>
              </a:defRPr>
            </a:pPr>
            <a:r>
              <a:t>القسم الخامس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1A365D"/>
                </a:solidFill>
              </a:defRPr>
            </a:pPr>
            <a:r>
              <a:t>الفعاليات الرياضية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18096"/>
                </a:solidFill>
              </a:defRPr>
            </a:pPr>
            <a:r>
              <a:t>3 فعاليات رياضية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الفعاليات الرياضية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515600" cy="137160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S1. بطولة كرة القدم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الموعد: يحدد لاحقاً (3 عطلات نهاية أسبوع) | الفئة: مسابقة رياضية | الحضور: 150 شخص | المستوى: كبير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10515600" cy="137160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S2. بطولة البادل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الموعد: يحدد لاحقاً (عطلتي نهاية أسبوع) | الفئة: مسابقة رياضية | الحضور: 20 شخص | المستوى: متوسط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515600" cy="137160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S3. تحدي المشي + جمعة سيرا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الموعد: ربع سنوي + سنوي | الفئة: رياضة وعافية | الحضور: 200 شخص | المستوى: متوسط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182CE"/>
                </a:solidFill>
              </a:defRPr>
            </a:pPr>
            <a:r>
              <a:t>القسم السادس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1A365D"/>
                </a:solidFill>
              </a:defRPr>
            </a:pPr>
            <a:r>
              <a:t>ملخص الميزانية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18096"/>
                </a:solidFill>
              </a:defRPr>
            </a:pPr>
            <a:r>
              <a:t>نظرة عامة على التكاليف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0"/>
            <a:ext cx="3200400" cy="137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12772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45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365D"/>
                </a:solidFill>
                <a:latin typeface="Arial"/>
              </a:defRPr>
            </a:pPr>
            <a:r>
              <a:t>ملخص الميزانية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0040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فعاليات 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 فعاليات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20040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فعاليات 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 فعاليات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20040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فعاليات 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 فعاليات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60320"/>
            <a:ext cx="320040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فعاليات 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16 فعالية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560320"/>
            <a:ext cx="320040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الفعاليات الرياضية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200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 فعاليات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2560320"/>
            <a:ext cx="3200400" cy="100584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إجمالي الفعاليات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200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44 فعالية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657600"/>
            <a:ext cx="10515600" cy="6400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73968" y="3657600"/>
            <a:ext cx="73152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74904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الإجمالي قبل الضريبة (ريال سعودي)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77640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[يُحدد لاحقاً]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89120"/>
            <a:ext cx="10515600" cy="6400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73968" y="4389120"/>
            <a:ext cx="73152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A365D"/>
                </a:solidFill>
              </a:defRPr>
            </a:pPr>
            <a:r>
              <a:t>ضريبة القيمة المضافة (15%)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09160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A5568"/>
                </a:solidFill>
              </a:defRPr>
            </a:pPr>
            <a:r>
              <a:t>[يُحدد لاحقاً]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120640"/>
            <a:ext cx="10515600" cy="6400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73968" y="5120640"/>
            <a:ext cx="73152" cy="64008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66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★ الإجمالي الكلي شامل الضريبة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4406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68D391"/>
                </a:solidFill>
              </a:defRPr>
            </a:pPr>
            <a:r>
              <a:t>[يُحدد لاحقاً]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>
            <a:off x="5181447" y="0"/>
            <a:ext cx="1828800" cy="6858000"/>
          </a:xfrm>
          <a:prstGeom prst="chevron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86400"/>
            <a:ext cx="1371600" cy="1371600"/>
          </a:xfrm>
          <a:prstGeom prst="rtTriangl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000" b="1">
                <a:solidFill>
                  <a:srgbClr val="1A365D"/>
                </a:solidFill>
              </a:defRPr>
            </a:pPr>
            <a:r>
              <a:t>SERA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3182CE"/>
                </a:solidFill>
              </a:defRPr>
            </a:pPr>
            <a:r>
              <a:t>هيئة تنظيم الكهرباء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1A365D"/>
                </a:solidFill>
              </a:defRPr>
            </a:pPr>
            <a:r>
              <a:t>شكراً لكم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